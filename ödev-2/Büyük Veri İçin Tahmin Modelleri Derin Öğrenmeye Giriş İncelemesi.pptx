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 Bold" charset="1" panose="00000800000000000000"/>
      <p:regular r:id="rId19"/>
    </p:embeddedFont>
    <p:embeddedFont>
      <p:font typeface="Poppins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900" t="0" r="-89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588155" y="5562385"/>
            <a:ext cx="11708697" cy="807119"/>
            <a:chOff x="0" y="0"/>
            <a:chExt cx="1650406" cy="1137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50405" cy="113768"/>
            </a:xfrm>
            <a:custGeom>
              <a:avLst/>
              <a:gdLst/>
              <a:ahLst/>
              <a:cxnLst/>
              <a:rect r="r" b="b" t="t" l="l"/>
              <a:pathLst>
                <a:path h="113768" w="1650405">
                  <a:moveTo>
                    <a:pt x="49591" y="0"/>
                  </a:moveTo>
                  <a:lnTo>
                    <a:pt x="1600815" y="0"/>
                  </a:lnTo>
                  <a:cubicBezTo>
                    <a:pt x="1613967" y="0"/>
                    <a:pt x="1626581" y="5225"/>
                    <a:pt x="1635881" y="14525"/>
                  </a:cubicBezTo>
                  <a:cubicBezTo>
                    <a:pt x="1645181" y="23825"/>
                    <a:pt x="1650405" y="36439"/>
                    <a:pt x="1650405" y="49591"/>
                  </a:cubicBezTo>
                  <a:lnTo>
                    <a:pt x="1650405" y="64177"/>
                  </a:lnTo>
                  <a:cubicBezTo>
                    <a:pt x="1650405" y="77329"/>
                    <a:pt x="1645181" y="89943"/>
                    <a:pt x="1635881" y="99243"/>
                  </a:cubicBezTo>
                  <a:cubicBezTo>
                    <a:pt x="1626581" y="108543"/>
                    <a:pt x="1613967" y="113768"/>
                    <a:pt x="1600815" y="113768"/>
                  </a:cubicBezTo>
                  <a:lnTo>
                    <a:pt x="49591" y="113768"/>
                  </a:lnTo>
                  <a:cubicBezTo>
                    <a:pt x="36439" y="113768"/>
                    <a:pt x="23825" y="108543"/>
                    <a:pt x="14525" y="99243"/>
                  </a:cubicBezTo>
                  <a:cubicBezTo>
                    <a:pt x="5225" y="89943"/>
                    <a:pt x="0" y="77329"/>
                    <a:pt x="0" y="64177"/>
                  </a:cubicBezTo>
                  <a:lnTo>
                    <a:pt x="0" y="49591"/>
                  </a:lnTo>
                  <a:cubicBezTo>
                    <a:pt x="0" y="36439"/>
                    <a:pt x="5225" y="23825"/>
                    <a:pt x="14525" y="14525"/>
                  </a:cubicBezTo>
                  <a:cubicBezTo>
                    <a:pt x="23825" y="5225"/>
                    <a:pt x="36439" y="0"/>
                    <a:pt x="49591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650406" cy="1518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1184083">
            <a:off x="7403186" y="6063054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6" y="0"/>
                </a:lnTo>
                <a:lnTo>
                  <a:pt x="5755536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69695" y="1562435"/>
            <a:ext cx="15723927" cy="2916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4"/>
              </a:lnSpc>
            </a:pPr>
            <a:r>
              <a:rPr lang="en-US" sz="712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Büyük Veri İçin Tahmin Modelleri: Derin Öğrenmeye Giriş İncelemesi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92294" y="5587802"/>
            <a:ext cx="10500420" cy="651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Çekirdek Mimari Yapıları ve Uygulama Alanları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74842" y="7709495"/>
            <a:ext cx="3113633" cy="1146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HAZIRLAYAN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ZÜMRE GÜVEN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84083">
            <a:off x="9690483" y="3011312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7" y="0"/>
                </a:lnTo>
                <a:lnTo>
                  <a:pt x="5755537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57275"/>
            <a:ext cx="8172530" cy="851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2"/>
              </a:lnSpc>
            </a:pPr>
            <a:r>
              <a:rPr lang="en-US" sz="5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GİRİŞ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557092"/>
            <a:ext cx="16237016" cy="640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BÜYÜK VERİ ÇAĞI : </a:t>
            </a:r>
            <a:r>
              <a:rPr lang="en-US" sz="3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Bilim ve endüstrinin tüm alanları devasa miktarda veri üretmektedir.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Analiz İhtiyacı:</a:t>
            </a:r>
            <a:r>
              <a:rPr lang="en-US" sz="3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Bu verileri anlamlandırmak için geleneksel yöntemlerin ötesinde derin öğrenme (DL) gibi yenilikçi metodolojilere ihtiyaç duyulmaktadır.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DL Tanımı: </a:t>
            </a:r>
            <a:r>
              <a:rPr lang="en-US" sz="3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Karmaşık tahmin modellerini öğrenmek için kullanılan, çok katmanlı sinir ağlarını içeren bir algoritmalar ailesidir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</a:p>
          <a:p>
            <a:pPr algn="l">
              <a:lnSpc>
                <a:spcPts val="4620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709657" y="2237275"/>
            <a:ext cx="16875103" cy="6250876"/>
            <a:chOff x="0" y="0"/>
            <a:chExt cx="2378583" cy="8811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78583" cy="881126"/>
            </a:xfrm>
            <a:custGeom>
              <a:avLst/>
              <a:gdLst/>
              <a:ahLst/>
              <a:cxnLst/>
              <a:rect r="r" b="b" t="t" l="l"/>
              <a:pathLst>
                <a:path h="881126" w="2378583">
                  <a:moveTo>
                    <a:pt x="2378583" y="34408"/>
                  </a:moveTo>
                  <a:lnTo>
                    <a:pt x="2378583" y="846718"/>
                  </a:lnTo>
                  <a:cubicBezTo>
                    <a:pt x="2378583" y="865721"/>
                    <a:pt x="2363178" y="881126"/>
                    <a:pt x="2344175" y="881126"/>
                  </a:cubicBezTo>
                  <a:lnTo>
                    <a:pt x="34408" y="881126"/>
                  </a:lnTo>
                  <a:cubicBezTo>
                    <a:pt x="15405" y="881126"/>
                    <a:pt x="0" y="865721"/>
                    <a:pt x="0" y="846718"/>
                  </a:cubicBezTo>
                  <a:lnTo>
                    <a:pt x="0" y="34408"/>
                  </a:lnTo>
                  <a:cubicBezTo>
                    <a:pt x="0" y="15405"/>
                    <a:pt x="15405" y="0"/>
                    <a:pt x="34408" y="0"/>
                  </a:cubicBezTo>
                  <a:lnTo>
                    <a:pt x="2344175" y="0"/>
                  </a:lnTo>
                  <a:cubicBezTo>
                    <a:pt x="2353300" y="0"/>
                    <a:pt x="2362052" y="3625"/>
                    <a:pt x="2368505" y="10078"/>
                  </a:cubicBezTo>
                  <a:cubicBezTo>
                    <a:pt x="2374958" y="16531"/>
                    <a:pt x="2378583" y="25283"/>
                    <a:pt x="2378583" y="34408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B900BC">
                      <a:alpha val="100000"/>
                    </a:srgbClr>
                  </a:gs>
                  <a:gs pos="100000">
                    <a:srgbClr val="009C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78583" cy="919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84083">
            <a:off x="9690483" y="3011312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7" y="0"/>
                </a:lnTo>
                <a:lnTo>
                  <a:pt x="5755537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5006" y="857250"/>
            <a:ext cx="16237016" cy="8637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  <a:spcBef>
                <a:spcPct val="0"/>
              </a:spcBef>
            </a:pPr>
            <a:r>
              <a:rPr lang="en-US" b="true" sz="57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TARİHSEL</a:t>
            </a:r>
            <a:r>
              <a:rPr lang="en-US" b="true" sz="57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GELİŞİM (1943 - 1980)</a:t>
            </a:r>
          </a:p>
          <a:p>
            <a:pPr algn="l">
              <a:lnSpc>
                <a:spcPts val="6159"/>
              </a:lnSpc>
              <a:spcBef>
                <a:spcPct val="0"/>
              </a:spcBef>
            </a:pP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1943:  </a:t>
            </a: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İlk matematiksel nöron modeli McCulloch ve Pitts tarafından oluşturuldu.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1957:   </a:t>
            </a: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Doğrusal bir ikili sınıflandırıcı olan Perceptron tanıtıldı.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1969:  </a:t>
            </a: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Perceptron'un XOR gibi problemleri çözemediğinin kanıtlanmasıyla "Yapay Zeka Kışı" başladı.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1980:  </a:t>
            </a: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Görsel desen tanıma için tasarlanan "Neocognitron" ile derin ağlara ilk adımlar atıldı.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84083">
            <a:off x="9690483" y="3011312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7" y="0"/>
                </a:lnTo>
                <a:lnTo>
                  <a:pt x="5755537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3870" y="3128145"/>
            <a:ext cx="8026168" cy="640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2" indent="-356236" lvl="1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2006: Derin</a:t>
            </a:r>
            <a:r>
              <a:rPr lang="en-US" sz="3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İnanç Ağları (DBN) ile derin öğrenme terimi popülerleşti.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</a:p>
          <a:p>
            <a:pPr algn="l" marL="712472" indent="-356236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Başarı: Son yıllarda derin öğrenme ve CNN üzerine yapılan yayın sayısında devasa bir artış gözlemlenmiştir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</a:p>
          <a:p>
            <a:pPr algn="l">
              <a:lnSpc>
                <a:spcPts val="4620"/>
              </a:lnSpc>
              <a:spcBef>
                <a:spcPct val="0"/>
              </a:spcBef>
            </a:pPr>
          </a:p>
          <a:p>
            <a:pPr algn="l">
              <a:lnSpc>
                <a:spcPts val="4620"/>
              </a:lnSpc>
              <a:spcBef>
                <a:spcPct val="0"/>
              </a:spcBef>
            </a:pPr>
          </a:p>
          <a:p>
            <a:pPr algn="l">
              <a:lnSpc>
                <a:spcPts val="4620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1184083">
            <a:off x="8573817" y="4744383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7" y="0"/>
                </a:lnTo>
                <a:lnTo>
                  <a:pt x="5755537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2625287"/>
            <a:ext cx="8536314" cy="5036425"/>
          </a:xfrm>
          <a:custGeom>
            <a:avLst/>
            <a:gdLst/>
            <a:ahLst/>
            <a:cxnLst/>
            <a:rect r="r" b="b" t="t" l="l"/>
            <a:pathLst>
              <a:path h="5036425" w="8536314">
                <a:moveTo>
                  <a:pt x="0" y="0"/>
                </a:moveTo>
                <a:lnTo>
                  <a:pt x="8536314" y="0"/>
                </a:lnTo>
                <a:lnTo>
                  <a:pt x="8536314" y="5036426"/>
                </a:lnTo>
                <a:lnTo>
                  <a:pt x="0" y="50364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57275"/>
            <a:ext cx="13155241" cy="851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2"/>
              </a:lnSpc>
            </a:pPr>
            <a:r>
              <a:rPr lang="en-US" sz="5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Modern Dönem ve Yayın Trendleri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84083">
            <a:off x="9690483" y="3011312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7" y="0"/>
                </a:lnTo>
                <a:lnTo>
                  <a:pt x="5755537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26791" y="2649826"/>
            <a:ext cx="8786677" cy="4987349"/>
          </a:xfrm>
          <a:custGeom>
            <a:avLst/>
            <a:gdLst/>
            <a:ahLst/>
            <a:cxnLst/>
            <a:rect r="r" b="b" t="t" l="l"/>
            <a:pathLst>
              <a:path h="4987349" w="8786677">
                <a:moveTo>
                  <a:pt x="0" y="0"/>
                </a:moveTo>
                <a:lnTo>
                  <a:pt x="8786677" y="0"/>
                </a:lnTo>
                <a:lnTo>
                  <a:pt x="8786677" y="4987348"/>
                </a:lnTo>
                <a:lnTo>
                  <a:pt x="0" y="4987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09" r="0" b="-70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57275"/>
            <a:ext cx="13155241" cy="851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2"/>
              </a:lnSpc>
            </a:pPr>
            <a:r>
              <a:rPr lang="en-US" sz="5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MODERN DÖNEM VE YENİ TRENDLER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172332"/>
            <a:ext cx="7619798" cy="395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8"/>
              </a:lnSpc>
              <a:spcBef>
                <a:spcPct val="0"/>
              </a:spcBef>
            </a:pPr>
            <a:r>
              <a:rPr lang="en-US" b="true" sz="37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İşleyiş: </a:t>
            </a:r>
            <a:r>
              <a:rPr lang="en-US" sz="3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Girdiler (x) ağırlıklarla (w) çarpılır, bias (b) eklenir ve sonuç bir aktivasyon fonksiyonuna iletilir.</a:t>
            </a:r>
          </a:p>
          <a:p>
            <a:pPr algn="l">
              <a:lnSpc>
                <a:spcPts val="3848"/>
              </a:lnSpc>
              <a:spcBef>
                <a:spcPct val="0"/>
              </a:spcBef>
            </a:pPr>
          </a:p>
          <a:p>
            <a:pPr algn="l">
              <a:lnSpc>
                <a:spcPts val="3848"/>
              </a:lnSpc>
              <a:spcBef>
                <a:spcPct val="0"/>
              </a:spcBef>
            </a:pPr>
            <a:r>
              <a:rPr lang="en-US" b="true" sz="37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Matematiksel Model:</a:t>
            </a:r>
            <a:r>
              <a:rPr lang="en-US" sz="3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b="true" sz="37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y=ϕ(wTx+b)</a:t>
            </a:r>
          </a:p>
          <a:p>
            <a:pPr algn="l">
              <a:lnSpc>
                <a:spcPts val="384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1924" y="1057275"/>
            <a:ext cx="10964466" cy="851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2"/>
              </a:lnSpc>
              <a:spcBef>
                <a:spcPct val="0"/>
              </a:spcBef>
            </a:pPr>
            <a:r>
              <a:rPr lang="en-US" b="true" sz="5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AKTİVASYON FONKSİYONLARI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29553" y="2398663"/>
            <a:ext cx="15890615" cy="6558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50" indent="-485775" lvl="1">
              <a:lnSpc>
                <a:spcPts val="4680"/>
              </a:lnSpc>
              <a:buFont typeface="Arial"/>
              <a:buChar char="•"/>
            </a:pPr>
            <a:r>
              <a:rPr lang="en-US" b="true" sz="4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ReLU:</a:t>
            </a:r>
            <a:r>
              <a:rPr lang="en-US" sz="4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Derin sinir ağları için en popüler ve standart aktivasyon fonksiyonudur.</a:t>
            </a:r>
          </a:p>
          <a:p>
            <a:pPr algn="l">
              <a:lnSpc>
                <a:spcPts val="4680"/>
              </a:lnSpc>
            </a:pPr>
          </a:p>
          <a:p>
            <a:pPr algn="l">
              <a:lnSpc>
                <a:spcPts val="4680"/>
              </a:lnSpc>
            </a:pPr>
          </a:p>
          <a:p>
            <a:pPr algn="l" marL="971550" indent="-485775" lvl="1">
              <a:lnSpc>
                <a:spcPts val="4680"/>
              </a:lnSpc>
              <a:buFont typeface="Arial"/>
              <a:buChar char="•"/>
            </a:pPr>
            <a:r>
              <a:rPr lang="en-US" b="true" sz="4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Softmax: </a:t>
            </a:r>
            <a:r>
              <a:rPr lang="en-US" sz="4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Çıktıları olasılık değerlerine (toplamı 1) dönüştürmek için kullanılır ve genellikle son katmanda yer alır.</a:t>
            </a:r>
          </a:p>
          <a:p>
            <a:pPr algn="l">
              <a:lnSpc>
                <a:spcPts val="4680"/>
              </a:lnSpc>
            </a:pPr>
          </a:p>
          <a:p>
            <a:pPr algn="l">
              <a:lnSpc>
                <a:spcPts val="4680"/>
              </a:lnSpc>
            </a:pPr>
          </a:p>
          <a:p>
            <a:pPr algn="l" marL="971550" indent="-485775" lvl="1">
              <a:lnSpc>
                <a:spcPts val="4680"/>
              </a:lnSpc>
              <a:buFont typeface="Arial"/>
              <a:buChar char="•"/>
            </a:pPr>
            <a:r>
              <a:rPr lang="en-US" b="true" sz="4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Diğerleri: </a:t>
            </a:r>
            <a:r>
              <a:rPr lang="en-US" sz="4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Tanh, Sigmoid ve Heaviside gibi fonksiyonlar farklı amaçlarla kullanılır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1184083">
            <a:off x="9690483" y="3011312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7" y="0"/>
                </a:lnTo>
                <a:lnTo>
                  <a:pt x="5755537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84083">
            <a:off x="9690483" y="3011312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7" y="0"/>
                </a:lnTo>
                <a:lnTo>
                  <a:pt x="5755537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57275"/>
            <a:ext cx="10527655" cy="851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2"/>
              </a:lnSpc>
              <a:spcBef>
                <a:spcPct val="0"/>
              </a:spcBef>
            </a:pPr>
            <a:r>
              <a:rPr lang="en-US" b="true" sz="5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DERİN İLERİ BESLEMELİ AĞLAR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3378" y="3243199"/>
            <a:ext cx="9144000" cy="4709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49961" indent="-474980" lvl="1">
              <a:lnSpc>
                <a:spcPts val="4576"/>
              </a:lnSpc>
              <a:buFont typeface="Arial"/>
              <a:buChar char="•"/>
            </a:pPr>
            <a:r>
              <a:rPr lang="en-US" sz="4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Mimari: Giriş ve çıkış katmanları arasında birden fazla gizli katman bulunur.</a:t>
            </a:r>
          </a:p>
          <a:p>
            <a:pPr algn="just">
              <a:lnSpc>
                <a:spcPts val="4576"/>
              </a:lnSpc>
            </a:pPr>
          </a:p>
          <a:p>
            <a:pPr algn="just" marL="949961" indent="-474980" lvl="1">
              <a:lnSpc>
                <a:spcPts val="4576"/>
              </a:lnSpc>
              <a:buFont typeface="Arial"/>
              <a:buChar char="•"/>
            </a:pPr>
            <a:r>
              <a:rPr lang="en-US" sz="4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Derinlik: İkiden fazla gizli katmanı olan yapılar genellikle "</a:t>
            </a:r>
            <a:r>
              <a:rPr lang="en-US" b="true" sz="4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derin</a:t>
            </a:r>
            <a:r>
              <a:rPr lang="en-US" sz="4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" kabul edilir.</a:t>
            </a:r>
          </a:p>
          <a:p>
            <a:pPr algn="just">
              <a:lnSpc>
                <a:spcPts val="4576"/>
              </a:lnSpc>
              <a:spcBef>
                <a:spcPct val="0"/>
              </a:spcBef>
            </a:pPr>
            <a:r>
              <a:rPr lang="en-US" sz="4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877125" y="1908557"/>
            <a:ext cx="6464684" cy="7349743"/>
          </a:xfrm>
          <a:custGeom>
            <a:avLst/>
            <a:gdLst/>
            <a:ahLst/>
            <a:cxnLst/>
            <a:rect r="r" b="b" t="t" l="l"/>
            <a:pathLst>
              <a:path h="7349743" w="6464684">
                <a:moveTo>
                  <a:pt x="0" y="0"/>
                </a:moveTo>
                <a:lnTo>
                  <a:pt x="6464684" y="0"/>
                </a:lnTo>
                <a:lnTo>
                  <a:pt x="6464684" y="7349743"/>
                </a:lnTo>
                <a:lnTo>
                  <a:pt x="0" y="7349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45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84083">
            <a:off x="9690483" y="3011312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7" y="0"/>
                </a:lnTo>
                <a:lnTo>
                  <a:pt x="5755537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8938" y="1057275"/>
            <a:ext cx="11007179" cy="851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2"/>
              </a:lnSpc>
              <a:spcBef>
                <a:spcPct val="0"/>
              </a:spcBef>
            </a:pPr>
            <a:r>
              <a:rPr lang="en-US" b="true" sz="5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EVRİŞİMLİ SİNİR AĞLARI (CNN)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55537" y="2512758"/>
            <a:ext cx="17176926" cy="645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49961" indent="-474980" lvl="1">
              <a:lnSpc>
                <a:spcPts val="4576"/>
              </a:lnSpc>
              <a:buFont typeface="Arial"/>
              <a:buChar char="•"/>
            </a:pPr>
            <a:r>
              <a:rPr lang="en-US" b="true" sz="4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Yerel Bağlantısallık: </a:t>
            </a:r>
            <a:r>
              <a:rPr lang="en-US" sz="4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Nöronlar sadece belirli bir "yerel" bölgeye bağlanarak parametre sayısını azaltır.</a:t>
            </a:r>
          </a:p>
          <a:p>
            <a:pPr algn="just">
              <a:lnSpc>
                <a:spcPts val="4576"/>
              </a:lnSpc>
            </a:pPr>
          </a:p>
          <a:p>
            <a:pPr algn="just">
              <a:lnSpc>
                <a:spcPts val="4576"/>
              </a:lnSpc>
            </a:pPr>
          </a:p>
          <a:p>
            <a:pPr algn="just" marL="949961" indent="-474980" lvl="1">
              <a:lnSpc>
                <a:spcPts val="4576"/>
              </a:lnSpc>
              <a:buFont typeface="Arial"/>
              <a:buChar char="•"/>
            </a:pPr>
            <a:r>
              <a:rPr lang="en-US" b="true" sz="4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Ağırlık Paylaşımı:</a:t>
            </a:r>
            <a:r>
              <a:rPr lang="en-US" sz="4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Aynı ağırlık seti (kernel) tüm bölge üz</a:t>
            </a:r>
            <a:r>
              <a:rPr lang="en-US" sz="4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erinde gezdirilerek verimlilik sağlanır.</a:t>
            </a:r>
          </a:p>
          <a:p>
            <a:pPr algn="just">
              <a:lnSpc>
                <a:spcPts val="4576"/>
              </a:lnSpc>
            </a:pPr>
          </a:p>
          <a:p>
            <a:pPr algn="just">
              <a:lnSpc>
                <a:spcPts val="4576"/>
              </a:lnSpc>
            </a:pPr>
          </a:p>
          <a:p>
            <a:pPr algn="just" marL="949961" indent="-474980" lvl="1">
              <a:lnSpc>
                <a:spcPts val="4576"/>
              </a:lnSpc>
              <a:buFont typeface="Arial"/>
              <a:buChar char="•"/>
            </a:pPr>
            <a:r>
              <a:rPr lang="en-US" b="true" sz="4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Uygulama:</a:t>
            </a:r>
            <a:r>
              <a:rPr lang="en-US" sz="4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Özellikle görüntü, vi</a:t>
            </a:r>
            <a:r>
              <a:rPr lang="en-US" sz="4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</a:t>
            </a:r>
            <a:r>
              <a:rPr lang="en-US" sz="4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ve ses verile</a:t>
            </a:r>
            <a:r>
              <a:rPr lang="en-US" sz="4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rin</a:t>
            </a:r>
            <a:r>
              <a:rPr lang="en-US" sz="4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 çok etkilidir</a:t>
            </a:r>
          </a:p>
          <a:p>
            <a:pPr algn="just">
              <a:lnSpc>
                <a:spcPts val="457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84083">
            <a:off x="9690483" y="3011312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7" y="0"/>
                </a:lnTo>
                <a:lnTo>
                  <a:pt x="5755537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184083">
            <a:off x="9851134" y="5352190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7" y="0"/>
                </a:lnTo>
                <a:lnTo>
                  <a:pt x="5755537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41170" y="3415296"/>
            <a:ext cx="10175466" cy="4057467"/>
          </a:xfrm>
          <a:custGeom>
            <a:avLst/>
            <a:gdLst/>
            <a:ahLst/>
            <a:cxnLst/>
            <a:rect r="r" b="b" t="t" l="l"/>
            <a:pathLst>
              <a:path h="4057467" w="10175466">
                <a:moveTo>
                  <a:pt x="0" y="0"/>
                </a:moveTo>
                <a:lnTo>
                  <a:pt x="10175465" y="0"/>
                </a:lnTo>
                <a:lnTo>
                  <a:pt x="10175465" y="4057467"/>
                </a:lnTo>
                <a:lnTo>
                  <a:pt x="0" y="4057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7688" y="1057275"/>
            <a:ext cx="11489680" cy="851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2"/>
              </a:lnSpc>
              <a:spcBef>
                <a:spcPct val="0"/>
              </a:spcBef>
            </a:pPr>
            <a:r>
              <a:rPr lang="en-US" b="true" sz="5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CNN BİLEŞENLERİ VE FİLTRELEME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2256325"/>
            <a:ext cx="7076256" cy="7396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4159"/>
              </a:lnSpc>
              <a:buFont typeface="Arial"/>
              <a:buChar char="•"/>
            </a:pPr>
            <a:r>
              <a:rPr lang="en-US" b="true" sz="3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Evrişim: </a:t>
            </a: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Kernel, girdi üzerinde kayarak özellik haritaları (activation maps) oluşturur.</a:t>
            </a:r>
          </a:p>
          <a:p>
            <a:pPr algn="just">
              <a:lnSpc>
                <a:spcPts val="4159"/>
              </a:lnSpc>
            </a:pPr>
          </a:p>
          <a:p>
            <a:pPr algn="just">
              <a:lnSpc>
                <a:spcPts val="4159"/>
              </a:lnSpc>
            </a:pPr>
          </a:p>
          <a:p>
            <a:pPr algn="just" marL="863599" indent="-431800" lvl="1">
              <a:lnSpc>
                <a:spcPts val="4159"/>
              </a:lnSpc>
              <a:buFont typeface="Arial"/>
              <a:buChar char="•"/>
            </a:pPr>
            <a:r>
              <a:rPr lang="en-US" b="true" sz="3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Havuzlama(Pooling): </a:t>
            </a: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Boyutu küçültü</a:t>
            </a: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rken mekansal değişmezlik sağlar ve aşırı öğrenmeyi (overfitting) azaltmaya yardımcı olur</a:t>
            </a:r>
          </a:p>
          <a:p>
            <a:pPr algn="just">
              <a:lnSpc>
                <a:spcPts val="4159"/>
              </a:lnSpc>
            </a:pPr>
          </a:p>
          <a:p>
            <a:pPr algn="just">
              <a:lnSpc>
                <a:spcPts val="41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84083">
            <a:off x="9690483" y="3011312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7" y="0"/>
                </a:lnTo>
                <a:lnTo>
                  <a:pt x="5755537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184083">
            <a:off x="9851134" y="5352190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7" y="0"/>
                </a:lnTo>
                <a:lnTo>
                  <a:pt x="5755537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7246" y="855262"/>
            <a:ext cx="9567118" cy="851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2"/>
              </a:lnSpc>
              <a:spcBef>
                <a:spcPct val="0"/>
              </a:spcBef>
            </a:pPr>
            <a:r>
              <a:rPr lang="en-US" b="true" sz="5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GELİŞMİŞ CNN MİMARİLERİ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5682" y="2275375"/>
            <a:ext cx="17479946" cy="6656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93136" indent="-496568" lvl="1">
              <a:lnSpc>
                <a:spcPts val="4783"/>
              </a:lnSpc>
              <a:buFont typeface="Arial"/>
              <a:buChar char="•"/>
            </a:pPr>
            <a:r>
              <a:rPr lang="en-US" b="true" sz="4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VGGNet:</a:t>
            </a:r>
            <a:r>
              <a:rPr lang="en-US" sz="4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Çok sayıda küçük filtrenin üst üste eklenmesiyle derinliğin önemini kanıtlamıştır.</a:t>
            </a:r>
          </a:p>
          <a:p>
            <a:pPr algn="just">
              <a:lnSpc>
                <a:spcPts val="4783"/>
              </a:lnSpc>
            </a:pPr>
          </a:p>
          <a:p>
            <a:pPr algn="just">
              <a:lnSpc>
                <a:spcPts val="4783"/>
              </a:lnSpc>
            </a:pPr>
          </a:p>
          <a:p>
            <a:pPr algn="just" marL="993136" indent="-496568" lvl="1">
              <a:lnSpc>
                <a:spcPts val="4783"/>
              </a:lnSpc>
              <a:buFont typeface="Arial"/>
              <a:buChar char="•"/>
            </a:pPr>
            <a:r>
              <a:rPr lang="en-US" b="true" sz="4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GoogLeNet:</a:t>
            </a:r>
            <a:r>
              <a:rPr lang="en-US" sz="4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"Inception" blokla</a:t>
            </a:r>
            <a:r>
              <a:rPr lang="en-US" sz="4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rı ile ağı seyrek ama verimli tutmayı amaçlar.</a:t>
            </a:r>
          </a:p>
          <a:p>
            <a:pPr algn="just">
              <a:lnSpc>
                <a:spcPts val="4783"/>
              </a:lnSpc>
            </a:pPr>
          </a:p>
          <a:p>
            <a:pPr algn="just">
              <a:lnSpc>
                <a:spcPts val="4783"/>
              </a:lnSpc>
            </a:pPr>
          </a:p>
          <a:p>
            <a:pPr algn="just" marL="993136" indent="-496568" lvl="1">
              <a:lnSpc>
                <a:spcPts val="4783"/>
              </a:lnSpc>
              <a:buFont typeface="Arial"/>
              <a:buChar char="•"/>
            </a:pPr>
            <a:r>
              <a:rPr lang="en-US" b="true" sz="4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ResNet:</a:t>
            </a:r>
            <a:r>
              <a:rPr lang="en-US" sz="4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"Residual" bloklar sayesinde 152 katmana kadar performans kaybı olmadan inebilir.</a:t>
            </a:r>
          </a:p>
          <a:p>
            <a:pPr algn="just">
              <a:lnSpc>
                <a:spcPts val="478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84083">
            <a:off x="9690483" y="3011312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7" y="0"/>
                </a:lnTo>
                <a:lnTo>
                  <a:pt x="5755537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184083">
            <a:off x="9851134" y="5352190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7" y="0"/>
                </a:lnTo>
                <a:lnTo>
                  <a:pt x="5755537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55262"/>
            <a:ext cx="7623125" cy="851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2"/>
              </a:lnSpc>
              <a:spcBef>
                <a:spcPct val="0"/>
              </a:spcBef>
            </a:pPr>
            <a:r>
              <a:rPr lang="en-US" b="true" sz="5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DERİN İNANÇ AĞLARI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4027" y="2275375"/>
            <a:ext cx="17479946" cy="6056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93136" indent="-496568" lvl="1">
              <a:lnSpc>
                <a:spcPts val="4783"/>
              </a:lnSpc>
              <a:buFont typeface="Arial"/>
              <a:buChar char="•"/>
            </a:pPr>
            <a:r>
              <a:rPr lang="en-US" b="true" sz="4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Hibrit Yapı:</a:t>
            </a:r>
            <a:r>
              <a:rPr lang="en-US" sz="4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Restricted Boltzmann Machines (RBM) ve D-FFNN mimarilerinin birleşimidir.</a:t>
            </a:r>
          </a:p>
          <a:p>
            <a:pPr algn="just">
              <a:lnSpc>
                <a:spcPts val="4783"/>
              </a:lnSpc>
            </a:pPr>
          </a:p>
          <a:p>
            <a:pPr algn="just" marL="993136" indent="-496568" lvl="1">
              <a:lnSpc>
                <a:spcPts val="4783"/>
              </a:lnSpc>
              <a:buFont typeface="Arial"/>
              <a:buChar char="•"/>
            </a:pPr>
            <a:r>
              <a:rPr lang="en-US" b="true" sz="4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Eğitim:</a:t>
            </a:r>
            <a:r>
              <a:rPr lang="en-US" sz="4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Önce denetimsiz ön</a:t>
            </a:r>
            <a:r>
              <a:rPr lang="en-US" sz="4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eğitim (unsupervised pre-training), ardından denetimli ince ayar (fine-tuning) yapılır.</a:t>
            </a:r>
          </a:p>
          <a:p>
            <a:pPr algn="just">
              <a:lnSpc>
                <a:spcPts val="4783"/>
              </a:lnSpc>
            </a:pPr>
          </a:p>
          <a:p>
            <a:pPr algn="just" marL="993136" indent="-496568" lvl="1">
              <a:lnSpc>
                <a:spcPts val="4783"/>
              </a:lnSpc>
              <a:buFont typeface="Arial"/>
              <a:buChar char="•"/>
            </a:pPr>
            <a:r>
              <a:rPr lang="en-US" b="true" sz="4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Önc</a:t>
            </a:r>
            <a:r>
              <a:rPr lang="en-US" b="true" sz="4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elik: </a:t>
            </a:r>
            <a:r>
              <a:rPr lang="en-US" sz="4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 yöntem, sinir ağlarının verimli eğitilmesinde büyük bir kırılma yaratmıştır</a:t>
            </a:r>
          </a:p>
          <a:p>
            <a:pPr algn="just">
              <a:lnSpc>
                <a:spcPts val="478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84083">
            <a:off x="9690483" y="3011312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7" y="0"/>
                </a:lnTo>
                <a:lnTo>
                  <a:pt x="5755537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184083">
            <a:off x="9851134" y="5352190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7" y="0"/>
                </a:lnTo>
                <a:lnTo>
                  <a:pt x="5755537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385993"/>
            <a:ext cx="9557445" cy="851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2"/>
              </a:lnSpc>
              <a:spcBef>
                <a:spcPct val="0"/>
              </a:spcBef>
            </a:pPr>
            <a:r>
              <a:rPr lang="en-US" b="true" sz="5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OTOMOTİK KODLAYICILAR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4027" y="3016091"/>
            <a:ext cx="17479946" cy="3655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93136" indent="-496568" lvl="1">
              <a:lnSpc>
                <a:spcPts val="4783"/>
              </a:lnSpc>
              <a:buFont typeface="Arial"/>
              <a:buChar char="•"/>
            </a:pPr>
            <a:r>
              <a:rPr lang="en-US" b="true" sz="4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Amacı:</a:t>
            </a:r>
            <a:r>
              <a:rPr lang="en-US" sz="4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Özellik seçimi, boyut azaltma ve veri temsili öğrenme için kullanılır.</a:t>
            </a:r>
          </a:p>
          <a:p>
            <a:pPr algn="just">
              <a:lnSpc>
                <a:spcPts val="4783"/>
              </a:lnSpc>
            </a:pPr>
          </a:p>
          <a:p>
            <a:pPr algn="just" marL="993136" indent="-496568" lvl="1">
              <a:lnSpc>
                <a:spcPts val="4783"/>
              </a:lnSpc>
              <a:buFont typeface="Arial"/>
              <a:buChar char="•"/>
            </a:pPr>
            <a:r>
              <a:rPr lang="en-US" b="true" sz="4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Yapı: </a:t>
            </a:r>
            <a:r>
              <a:rPr lang="en-US" sz="4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Giriş verisini</a:t>
            </a:r>
            <a:r>
              <a:rPr lang="en-US" sz="4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düşük boyutlu bir "kod" (code layer) katmanına sıkıştırır ve sonra geri açar</a:t>
            </a:r>
          </a:p>
          <a:p>
            <a:pPr algn="just">
              <a:lnSpc>
                <a:spcPts val="478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84083">
            <a:off x="9690483" y="3011312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7" y="0"/>
                </a:lnTo>
                <a:lnTo>
                  <a:pt x="5755537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184083">
            <a:off x="9851134" y="5352190"/>
            <a:ext cx="5755537" cy="6731622"/>
          </a:xfrm>
          <a:custGeom>
            <a:avLst/>
            <a:gdLst/>
            <a:ahLst/>
            <a:cxnLst/>
            <a:rect r="r" b="b" t="t" l="l"/>
            <a:pathLst>
              <a:path h="6731622" w="5755537">
                <a:moveTo>
                  <a:pt x="0" y="0"/>
                </a:moveTo>
                <a:lnTo>
                  <a:pt x="5755537" y="0"/>
                </a:lnTo>
                <a:lnTo>
                  <a:pt x="5755537" y="6731622"/>
                </a:lnTo>
                <a:lnTo>
                  <a:pt x="0" y="6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65671" y="1385993"/>
            <a:ext cx="9683502" cy="851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2"/>
              </a:lnSpc>
              <a:spcBef>
                <a:spcPct val="0"/>
              </a:spcBef>
            </a:pPr>
            <a:r>
              <a:rPr lang="en-US" b="true" sz="5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SONUÇ VE GELECEK BAKIŞI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6363" y="2915084"/>
            <a:ext cx="16855273" cy="6014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93136" indent="-496568" lvl="1">
              <a:lnSpc>
                <a:spcPts val="4783"/>
              </a:lnSpc>
              <a:buFont typeface="Arial"/>
              <a:buChar char="•"/>
            </a:pPr>
            <a:r>
              <a:rPr lang="en-US" b="true" sz="4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Temel Yapı Taşları: </a:t>
            </a:r>
            <a:r>
              <a:rPr lang="en-US" sz="4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CNN, DBN, AE ve LSTM günümüz derin öğrenme dünyasının merkezindedir.</a:t>
            </a:r>
          </a:p>
          <a:p>
            <a:pPr algn="just">
              <a:lnSpc>
                <a:spcPts val="4783"/>
              </a:lnSpc>
            </a:pPr>
          </a:p>
          <a:p>
            <a:pPr algn="just" marL="993136" indent="-496568" lvl="1">
              <a:lnSpc>
                <a:spcPts val="4783"/>
              </a:lnSpc>
              <a:buFont typeface="Arial"/>
              <a:buChar char="•"/>
            </a:pPr>
            <a:r>
              <a:rPr lang="en-US" b="true" sz="4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Lego Yaklaşımı:</a:t>
            </a:r>
            <a:r>
              <a:rPr lang="en-US" sz="4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Bu mimari bloklar bir "Lego" gibi esnekçe birleştirilerek her türlü uygulama için yeni modeller üretilebilir.</a:t>
            </a:r>
          </a:p>
          <a:p>
            <a:pPr algn="just">
              <a:lnSpc>
                <a:spcPts val="4783"/>
              </a:lnSpc>
            </a:pPr>
          </a:p>
          <a:p>
            <a:pPr algn="just" marL="993136" indent="-496568" lvl="1">
              <a:lnSpc>
                <a:spcPts val="4783"/>
              </a:lnSpc>
              <a:buFont typeface="Arial"/>
              <a:buChar char="•"/>
            </a:pPr>
            <a:r>
              <a:rPr lang="en-US" b="true" sz="4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Mesaj: </a:t>
            </a:r>
            <a:r>
              <a:rPr lang="en-US" sz="4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Gelecekteki AI gelişimlerine hazır olmak için bu temel yapıları anlamak esastır</a:t>
            </a:r>
          </a:p>
          <a:p>
            <a:pPr algn="just">
              <a:lnSpc>
                <a:spcPts val="447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DAHD8h3-eyw</dc:identifier>
  <dcterms:modified xsi:type="dcterms:W3CDTF">2011-08-01T06:04:30Z</dcterms:modified>
  <cp:revision>1</cp:revision>
  <dc:title>Büyük Veri İçin Tahmin Modelleri: Derin Öğrenmeye Giriş İncelemesi</dc:title>
</cp:coreProperties>
</file>